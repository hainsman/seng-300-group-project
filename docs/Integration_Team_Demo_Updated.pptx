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71" r:id="rId5"/>
    <p:sldId id="259" r:id="rId6"/>
    <p:sldId id="261" r:id="rId7"/>
    <p:sldId id="277" r:id="rId8"/>
    <p:sldId id="278" r:id="rId9"/>
    <p:sldId id="262" r:id="rId10"/>
    <p:sldId id="279" r:id="rId11"/>
    <p:sldId id="272" r:id="rId12"/>
    <p:sldId id="280" r:id="rId13"/>
    <p:sldId id="273" r:id="rId14"/>
    <p:sldId id="281" r:id="rId15"/>
    <p:sldId id="282" r:id="rId16"/>
    <p:sldId id="263" r:id="rId17"/>
    <p:sldId id="283" r:id="rId18"/>
    <p:sldId id="284" r:id="rId19"/>
    <p:sldId id="285" r:id="rId20"/>
    <p:sldId id="286" r:id="rId21"/>
    <p:sldId id="287" r:id="rId22"/>
    <p:sldId id="274" r:id="rId23"/>
    <p:sldId id="288" r:id="rId24"/>
    <p:sldId id="289" r:id="rId25"/>
    <p:sldId id="275" r:id="rId26"/>
    <p:sldId id="276" r:id="rId27"/>
    <p:sldId id="264" r:id="rId28"/>
    <p:sldId id="265" r:id="rId29"/>
    <p:sldId id="266" r:id="rId30"/>
    <p:sldId id="267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48"/>
    <p:restoredTop sz="94610"/>
  </p:normalViewPr>
  <p:slideViewPr>
    <p:cSldViewPr snapToGrid="0" snapToObjects="1">
      <p:cViewPr varScale="1">
        <p:scale>
          <a:sx n="297" d="100"/>
          <a:sy n="297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653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16B57-D442-FCB5-BA57-1861EC31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F87D5-F249-768C-8DC0-43F93EBED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B6FE1-AA83-EFE6-B63F-8E860EBA1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B905F-FE69-6E62-0C81-F16A3083F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81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930B-EBD6-EF42-8350-5A2811748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3AF45-4439-CE9F-B152-8B666A378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C9F11-7D3B-1F0F-8933-789D36304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3943F-8D91-6415-9A13-21EBD5C0D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95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306FC-A92E-2106-F639-40F7D773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F1AF3-169A-823C-AA63-FE577C908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6594B-6E09-8B5A-4462-EE34E5AF4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D5506-ED81-A782-E9B3-49A71A0DBB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76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FCC0-A563-7F6E-C2B8-2CADC155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EDA35-A53C-1F0B-C4B8-D48E41051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953EF-7DEB-769D-EB02-076C9F36B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337E-6D81-1C17-9DE0-E7EBB646E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22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BDE18-4D1E-BEED-E446-3A6BDF4C0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91601-05E6-3F89-09C7-2724CE738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8F982-8CB6-1680-BBC3-14252D666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3C6A8-F242-B793-8BA4-12CE6FDCE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65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FCB0-466A-AC82-819D-AFC8848E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CBE7F-176E-D607-18BA-48E7DF8B1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320E6-79EA-7FD3-9CB3-944AB571A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8DBD0-B0C1-BA33-FB43-FBFE39D892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0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Team Design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200400" cy="36576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User Flows  ·  Project Plan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 Solutions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5074920"/>
            <a:ext cx="8412480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Platform  ·  Bogo Solutions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40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1024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4081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breakdown, layers, and design principles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640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225856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User Flow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264261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 for all major platform flows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640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349300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80160" y="387705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Three-sprint breakdown and product backlog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5074920"/>
            <a:ext cx="8412480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8503920" cy="9784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NAVIGATION 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252728"/>
            <a:ext cx="1536192" cy="201168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25272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39696" y="1252728"/>
            <a:ext cx="1536192" cy="201168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39696" y="125272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WelcomePage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76472" y="1252728"/>
            <a:ext cx="1536192" cy="201168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76472" y="125272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13248" y="1252728"/>
            <a:ext cx="1536192" cy="201168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13248" y="125272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MainGameDashboard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50024" y="1252728"/>
            <a:ext cx="1536192" cy="201168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50024" y="125272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PlayGame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1508760"/>
            <a:ext cx="1536192" cy="201168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15087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GameGUI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39696" y="1508760"/>
            <a:ext cx="1536192" cy="201168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39696" y="15087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ChatboxGUI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76472" y="1508760"/>
            <a:ext cx="1536192" cy="201168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76472" y="15087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ProfileDashboard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13248" y="1508760"/>
            <a:ext cx="1536192" cy="201168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13248" y="15087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1833092"/>
            <a:ext cx="0" cy="114579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0" y="19019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ClientCore  →  TCP Network  →  ServerCore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2084832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2286000"/>
            <a:ext cx="8503920" cy="8229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E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 &amp; SERVICES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2615184"/>
            <a:ext cx="960120" cy="20116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PlatformCore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536192" y="2615184"/>
            <a:ext cx="960120" cy="20116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536192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GameSessionManager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69464" y="2615184"/>
            <a:ext cx="960120" cy="20116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69464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02736" y="2615184"/>
            <a:ext cx="960120" cy="20116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02736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36008" y="2615184"/>
            <a:ext cx="960120" cy="20116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36008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EventBus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669280" y="2615184"/>
            <a:ext cx="960120" cy="20116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69280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702552" y="2615184"/>
            <a:ext cx="960120" cy="20116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02552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735824" y="2615184"/>
            <a:ext cx="960120" cy="20116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35824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508760" y="3108960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572000" y="3108960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635240" y="3108960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20040" y="3310128"/>
            <a:ext cx="2743200" cy="1508760"/>
          </a:xfrm>
          <a:prstGeom prst="rect">
            <a:avLst/>
          </a:prstGeom>
          <a:solidFill>
            <a:srgbClr val="3B1F4E"/>
          </a:solidFill>
          <a:ln w="12700">
            <a:solidFill>
              <a:srgbClr val="3B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29768" y="3364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D8C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LAYER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29768" y="3630168"/>
            <a:ext cx="2514600" cy="182880"/>
          </a:xfrm>
          <a:prstGeom prst="rect">
            <a:avLst/>
          </a:prstGeom>
          <a:solidFill>
            <a:srgbClr val="6A3D9E"/>
          </a:solidFill>
          <a:ln w="12700">
            <a:solidFill>
              <a:srgbClr val="6A3D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29768" y="36301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8C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(interface)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29768" y="3849624"/>
            <a:ext cx="2514600" cy="182880"/>
          </a:xfrm>
          <a:prstGeom prst="rect">
            <a:avLst/>
          </a:prstGeom>
          <a:solidFill>
            <a:srgbClr val="6A3D9E"/>
          </a:solidFill>
          <a:ln w="12700">
            <a:solidFill>
              <a:srgbClr val="6A3D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29768" y="38496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8C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RuleValidator (interface)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9768" y="4069080"/>
            <a:ext cx="2514600" cy="182880"/>
          </a:xfrm>
          <a:prstGeom prst="rect">
            <a:avLst/>
          </a:prstGeom>
          <a:solidFill>
            <a:srgbClr val="6A3D9E"/>
          </a:solidFill>
          <a:ln w="12700">
            <a:solidFill>
              <a:srgbClr val="6A3D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29768" y="40690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8C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PlayerAction (abstract)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9768" y="4288536"/>
            <a:ext cx="2514600" cy="182880"/>
          </a:xfrm>
          <a:prstGeom prst="rect">
            <a:avLst/>
          </a:prstGeom>
          <a:solidFill>
            <a:srgbClr val="6A3D9E"/>
          </a:solidFill>
          <a:ln w="12700">
            <a:solidFill>
              <a:srgbClr val="6A3D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29768" y="42885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8C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TicTacToeGame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29768" y="4507992"/>
            <a:ext cx="2514600" cy="182880"/>
          </a:xfrm>
          <a:prstGeom prst="rect">
            <a:avLst/>
          </a:prstGeom>
          <a:solidFill>
            <a:srgbClr val="6A3D9E"/>
          </a:solidFill>
          <a:ln w="12700">
            <a:solidFill>
              <a:srgbClr val="6A3D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29768" y="45079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8C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ConnectFourGame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00400" y="3310128"/>
            <a:ext cx="2743200" cy="1508760"/>
          </a:xfrm>
          <a:prstGeom prst="rect">
            <a:avLst/>
          </a:prstGeom>
          <a:solidFill>
            <a:srgbClr val="3B2A1A"/>
          </a:solidFill>
          <a:ln w="12700">
            <a:solidFill>
              <a:srgbClr val="3B2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310128" y="3364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D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&amp; STATS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10128" y="3630168"/>
            <a:ext cx="2514600" cy="182880"/>
          </a:xfrm>
          <a:prstGeom prst="rect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310128" y="36301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D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310128" y="3849624"/>
            <a:ext cx="2514600" cy="182880"/>
          </a:xfrm>
          <a:prstGeom prst="rect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310128" y="38496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D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GeneralStats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310128" y="4069080"/>
            <a:ext cx="2514600" cy="182880"/>
          </a:xfrm>
          <a:prstGeom prst="rect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310128" y="40690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D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PlayerStats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310128" y="4288536"/>
            <a:ext cx="2514600" cy="182880"/>
          </a:xfrm>
          <a:prstGeom prst="rect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310128" y="42885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D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(enum)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310128" y="4507992"/>
            <a:ext cx="2514600" cy="182880"/>
          </a:xfrm>
          <a:prstGeom prst="rect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310128" y="45079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D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080760" y="3310128"/>
            <a:ext cx="2743200" cy="1508760"/>
          </a:xfrm>
          <a:prstGeom prst="rect">
            <a:avLst/>
          </a:prstGeom>
          <a:solidFill>
            <a:srgbClr val="3A2A2A"/>
          </a:solidFill>
          <a:ln w="12700">
            <a:solidFill>
              <a:srgbClr val="3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190488" y="3364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190488" y="3630168"/>
            <a:ext cx="2514600" cy="182880"/>
          </a:xfrm>
          <a:prstGeom prst="rect">
            <a:avLst/>
          </a:prstGeom>
          <a:solidFill>
            <a:srgbClr val="7A3A3A"/>
          </a:solidFill>
          <a:ln w="12700">
            <a:solidFill>
              <a:srgbClr val="7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190488" y="36301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190488" y="3849624"/>
            <a:ext cx="2514600" cy="182880"/>
          </a:xfrm>
          <a:prstGeom prst="rect">
            <a:avLst/>
          </a:prstGeom>
          <a:solidFill>
            <a:srgbClr val="7A3A3A"/>
          </a:solidFill>
          <a:ln w="12700">
            <a:solidFill>
              <a:srgbClr val="7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190488" y="38496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190488" y="4069080"/>
            <a:ext cx="2514600" cy="182880"/>
          </a:xfrm>
          <a:prstGeom prst="rect">
            <a:avLst/>
          </a:prstGeom>
          <a:solidFill>
            <a:srgbClr val="7A3A3A"/>
          </a:solidFill>
          <a:ln w="12700">
            <a:solidFill>
              <a:srgbClr val="7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190488" y="40690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CredentialsDatabase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90488" y="4288536"/>
            <a:ext cx="2514600" cy="182880"/>
          </a:xfrm>
          <a:prstGeom prst="rect">
            <a:avLst/>
          </a:prstGeom>
          <a:solidFill>
            <a:srgbClr val="7A3A3A"/>
          </a:solidFill>
          <a:ln w="12700">
            <a:solidFill>
              <a:srgbClr val="7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190488" y="42885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GameServer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F6068-25BE-FB25-6DAB-15FCC2BF8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3A10CA-7C0C-62BD-8E0E-C2F918E482A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DA2AF1-6C5D-22D2-6006-6CEAAEE97226}"/>
              </a:ext>
            </a:extLst>
          </p:cNvPr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63DB47-8AAE-FE60-9860-BE293495F7C6}"/>
              </a:ext>
            </a:extLst>
          </p:cNvPr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Overview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BB59466-FE25-8C6B-9CC5-A0F87092329E}"/>
              </a:ext>
            </a:extLst>
          </p:cNvPr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6" name="Picture 85" descr="A diagram of a company  Description automatically generated">
            <a:extLst>
              <a:ext uri="{FF2B5EF4-FFF2-40B4-BE49-F238E27FC236}">
                <a16:creationId xmlns:a16="http://schemas.microsoft.com/office/drawing/2014/main" id="{D92AC532-EE99-F1A2-7190-8A6F33E32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2" y="786980"/>
            <a:ext cx="8800563" cy="415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0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54864" cy="1188720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Platform owns notifications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325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GameSessionManager emits GameStateUpdate events. PlatformCore decides who to notify and how — regardless of where the player currently 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54864" cy="1188720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Game returns state only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325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implementations return state or deltas only. They never call UI or platform notification methods directly.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194560"/>
            <a:ext cx="54864" cy="1188720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UI calls PlatformCore APIs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2651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layer calls PlatformCore APIs (submitMove, joinQueue, joinLobby). It never touches GameEngine internals.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54864" cy="1188720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9472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Platform Core Bridge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2651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GameStateUpdate is the contract between game logic and everything else. No direct calls from game layer to UI.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54864" cy="1188720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" y="3611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Stub boundaries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" y="3977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Networking, and GameServer are stubs with clean interfaces — swappable with real implementations without structural changes.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Session State Machine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Picture 52" descr="A diagram of a diagram  Description automatically generated with medium confidence">
            <a:extLst>
              <a:ext uri="{FF2B5EF4-FFF2-40B4-BE49-F238E27FC236}">
                <a16:creationId xmlns:a16="http://schemas.microsoft.com/office/drawing/2014/main" id="{D13EC0B8-C68B-B6F9-16A0-CECA9D08C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755" y="689536"/>
            <a:ext cx="4211677" cy="42162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gin Origin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Authentication &amp; Account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38880" y="682075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Login — Original Design</a:t>
            </a:r>
          </a:p>
        </p:txBody>
      </p:sp>
      <p:sp>
        <p:nvSpPr>
          <p:cNvPr id="50" name="StatusPill"/>
          <p:cNvSpPr/>
          <p:nvPr/>
        </p:nvSpPr>
        <p:spPr>
          <a:xfrm>
            <a:off x="7331531" y="761870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ORIGINAL</a:t>
            </a:r>
          </a:p>
        </p:txBody>
      </p:sp>
      <p:pic>
        <p:nvPicPr>
          <p:cNvPr id="24" name="Diagram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617" y="1032465"/>
            <a:ext cx="5911669" cy="3962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gin Critiq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Authentication &amp; Account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38880" y="680000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Login — Design Critique</a:t>
            </a:r>
          </a:p>
        </p:txBody>
      </p:sp>
      <p:sp>
        <p:nvSpPr>
          <p:cNvPr id="50" name="StatusPill"/>
          <p:cNvSpPr/>
          <p:nvPr/>
        </p:nvSpPr>
        <p:spPr>
          <a:xfrm>
            <a:off x="7355809" y="725720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B91C1C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CRITIQUE</a:t>
            </a:r>
          </a:p>
        </p:txBody>
      </p:sp>
      <p:sp>
        <p:nvSpPr>
          <p:cNvPr id="30" name="ContentText"/>
          <p:cNvSpPr/>
          <p:nvPr/>
        </p:nvSpPr>
        <p:spPr>
          <a:xfrm>
            <a:off x="304800" y="990600"/>
            <a:ext cx="8534400" cy="40383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1. Plaintext password.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verifyCredentials(username, password) passes the raw password, which is a security design flaw. Even in a stub, hashing should be reflected in the architecture.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2. No SessionManager.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Session creation is collapsed into PlatformCore, violating Single Responsibility. A dedicated SessionManager should own session lifecycle.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3. No local session storage.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After login, there is no defined step to persist the session token locally, leaving the platform with no way to maintain authenticated state between screens.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4. No loading/feedback states.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 diagram moves directly from click to response with no intermediate UI state, omitting expected loading behaviour.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5. Missing userID in success response.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loginSuccess(sessionToken) gives the GUI no way to know which user just logged in without an additional lookup.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Sequence Diagrams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Account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73117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0" y="67311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Sign 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Logout</a:t>
            </a:r>
            <a:endParaRPr lang="en-US" sz="1000" dirty="0"/>
          </a:p>
        </p:txBody>
      </p:sp>
      <p:pic>
        <p:nvPicPr>
          <p:cNvPr id="24" name="Picture 23" descr="A screenshot of a diagram  Description automatically generated">
            <a:extLst>
              <a:ext uri="{FF2B5EF4-FFF2-40B4-BE49-F238E27FC236}">
                <a16:creationId xmlns:a16="http://schemas.microsoft.com/office/drawing/2014/main" id="{42A678CD-9AFD-8C4D-2821-B5A2F9F68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430" y="753071"/>
            <a:ext cx="5606660" cy="42545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gn Up New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Authentication &amp; Account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38880" y="680000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Sign Up — New Flow Addition</a:t>
            </a:r>
          </a:p>
        </p:txBody>
      </p:sp>
      <p:sp>
        <p:nvSpPr>
          <p:cNvPr id="50" name="StatusPill"/>
          <p:cNvSpPr/>
          <p:nvPr/>
        </p:nvSpPr>
        <p:spPr>
          <a:xfrm>
            <a:off x="7300000" y="715980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NEW FLOW</a:t>
            </a:r>
          </a:p>
        </p:txBody>
      </p:sp>
      <p:sp>
        <p:nvSpPr>
          <p:cNvPr id="30" name="ContentText"/>
          <p:cNvSpPr/>
          <p:nvPr/>
        </p:nvSpPr>
        <p:spPr>
          <a:xfrm>
            <a:off x="304800" y="990600"/>
            <a:ext cx="8534400" cy="40383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Why it was added.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Account registration was entirely absent from the original design. Without a registration flow, there is no defined path for new users to enter the system.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Username availability check.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PlatformCore checks CredentialsStore before creation, preventing duplicate accounts — a gap the original design had no mechanism for.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bcrypt storage from registration.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Storing bcrypt(password) at registration grounds the Login diagram's hashing assumption, ensuring consistency across the auth subsystem.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Auto-login after sign up.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A session is created immediately after successful registration so new players do not need a separate login step.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Failure paths defined.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Both duplicate username and general creation failure are explicitly modelled, covering the gaps the original left undefined.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FE65E-5F06-596A-A7E4-67CA6BFA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86A37B-695C-B356-7466-0BEDB17E261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32DE2C-6A5D-8406-903A-D74B5599D85E}"/>
              </a:ext>
            </a:extLst>
          </p:cNvPr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Sequence Diagrams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7DD0A9-9E19-CFA7-B196-2345FA40932D}"/>
              </a:ext>
            </a:extLst>
          </p:cNvPr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Account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F8F41D-8844-2BB4-5E94-D8908275EC52}"/>
              </a:ext>
            </a:extLst>
          </p:cNvPr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68D37E6-835E-374C-32A8-86E8A17169A8}"/>
              </a:ext>
            </a:extLst>
          </p:cNvPr>
          <p:cNvSpPr/>
          <p:nvPr/>
        </p:nvSpPr>
        <p:spPr>
          <a:xfrm>
            <a:off x="0" y="673117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616716-0EA6-99A7-150F-3FD3DC7BD639}"/>
              </a:ext>
            </a:extLst>
          </p:cNvPr>
          <p:cNvSpPr/>
          <p:nvPr/>
        </p:nvSpPr>
        <p:spPr>
          <a:xfrm>
            <a:off x="0" y="67311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A3F9B2F-BF44-452C-3F72-CA1DE94198D0}"/>
              </a:ext>
            </a:extLst>
          </p:cNvPr>
          <p:cNvSpPr/>
          <p:nvPr/>
        </p:nvSpPr>
        <p:spPr>
          <a:xfrm>
            <a:off x="320040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Sign Up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5455272-0F63-DCB6-ED03-5162A7A414EF}"/>
              </a:ext>
            </a:extLst>
          </p:cNvPr>
          <p:cNvSpPr/>
          <p:nvPr/>
        </p:nvSpPr>
        <p:spPr>
          <a:xfrm>
            <a:off x="608076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Logout</a:t>
            </a:r>
            <a:endParaRPr lang="en-US" sz="1000" dirty="0"/>
          </a:p>
        </p:txBody>
      </p:sp>
      <p:pic>
        <p:nvPicPr>
          <p:cNvPr id="28" name="Picture 27" descr="A screenshot of a computer screen  Description automatically generated">
            <a:extLst>
              <a:ext uri="{FF2B5EF4-FFF2-40B4-BE49-F238E27FC236}">
                <a16:creationId xmlns:a16="http://schemas.microsoft.com/office/drawing/2014/main" id="{613919E1-CE1D-154D-B484-19516A074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134" y="741416"/>
            <a:ext cx="5516452" cy="427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2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gout New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Authentication &amp; Account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38880" y="680000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Logout — New Flow Addition</a:t>
            </a:r>
          </a:p>
        </p:txBody>
      </p:sp>
      <p:sp>
        <p:nvSpPr>
          <p:cNvPr id="50" name="StatusPill"/>
          <p:cNvSpPr/>
          <p:nvPr/>
        </p:nvSpPr>
        <p:spPr>
          <a:xfrm>
            <a:off x="7300000" y="680000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NEW FLOW</a:t>
            </a:r>
          </a:p>
        </p:txBody>
      </p:sp>
      <p:sp>
        <p:nvSpPr>
          <p:cNvPr id="30" name="ContentText"/>
          <p:cNvSpPr/>
          <p:nvPr/>
        </p:nvSpPr>
        <p:spPr>
          <a:xfrm>
            <a:off x="304800" y="990600"/>
            <a:ext cx="8534400" cy="40383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Why it was added.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 logout flow was entirely absent from the original design. Without it, session tokens persist indefinitely and there is no defined way to invalidate a session.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SessionManager.clearSession().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Calls clearSession(sessionToken) which invalidates the token server-side and clears any locally stored session data.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Security correctness.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A complete authentication system requires a defined logout path. This makes the auth subsystem complete and architecturally sound.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Return to Welcome/Login.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After session is cleared, the player is explicitly navigated back to the Welcome/Login screen, completing the session lifecycle.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FA8F2-B67C-9964-BEDE-1E703695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0D8D19-9782-9358-E7D5-79EC6F4F322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A4D3F4-0292-A8D0-2465-562CCDBAF83A}"/>
              </a:ext>
            </a:extLst>
          </p:cNvPr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Sequence Diagrams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D4F297-9A68-5EF0-85C3-FCB5294ABB46}"/>
              </a:ext>
            </a:extLst>
          </p:cNvPr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Account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2DABEE-3281-AC7A-A698-00EB2DED5DFF}"/>
              </a:ext>
            </a:extLst>
          </p:cNvPr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F33725E-1D90-1B20-2589-3D08D1943BC2}"/>
              </a:ext>
            </a:extLst>
          </p:cNvPr>
          <p:cNvSpPr/>
          <p:nvPr/>
        </p:nvSpPr>
        <p:spPr>
          <a:xfrm>
            <a:off x="0" y="673117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0B132D7-3D25-9415-9D74-D3088AFEA028}"/>
              </a:ext>
            </a:extLst>
          </p:cNvPr>
          <p:cNvSpPr/>
          <p:nvPr/>
        </p:nvSpPr>
        <p:spPr>
          <a:xfrm>
            <a:off x="0" y="67311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91E7A66-4648-0021-AC05-A509BB38BB05}"/>
              </a:ext>
            </a:extLst>
          </p:cNvPr>
          <p:cNvSpPr/>
          <p:nvPr/>
        </p:nvSpPr>
        <p:spPr>
          <a:xfrm>
            <a:off x="320040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Sign Up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17087CE-A230-8C87-EDFA-F6314279D0BF}"/>
              </a:ext>
            </a:extLst>
          </p:cNvPr>
          <p:cNvSpPr/>
          <p:nvPr/>
        </p:nvSpPr>
        <p:spPr>
          <a:xfrm>
            <a:off x="608076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Logout</a:t>
            </a:r>
            <a:endParaRPr lang="en-US" sz="1000" dirty="0"/>
          </a:p>
        </p:txBody>
      </p:sp>
      <p:pic>
        <p:nvPicPr>
          <p:cNvPr id="26" name="Picture 25" descr="A diagram of a software development  Description automatically generated">
            <a:extLst>
              <a:ext uri="{FF2B5EF4-FFF2-40B4-BE49-F238E27FC236}">
                <a16:creationId xmlns:a16="http://schemas.microsoft.com/office/drawing/2014/main" id="{BF8D6A0F-442D-D75B-36C9-DD2632C7E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686" y="947437"/>
            <a:ext cx="5583827" cy="344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183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oin Game Origin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Matchmaking &amp; Game Session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38880" y="680000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Join Game — Original Design</a:t>
            </a:r>
          </a:p>
        </p:txBody>
      </p:sp>
      <p:sp>
        <p:nvSpPr>
          <p:cNvPr id="50" name="StatusPill"/>
          <p:cNvSpPr/>
          <p:nvPr/>
        </p:nvSpPr>
        <p:spPr>
          <a:xfrm>
            <a:off x="7295707" y="715980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ORIGINAL</a:t>
            </a:r>
          </a:p>
        </p:txBody>
      </p:sp>
      <p:pic>
        <p:nvPicPr>
          <p:cNvPr id="24" name="Diagram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716" y="1092422"/>
            <a:ext cx="6739943" cy="38483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oin Game Critiq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Matchmaking &amp; Game Session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9142" y="685800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-2146" y="677754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Join Game — Design Critique</a:t>
            </a:r>
          </a:p>
        </p:txBody>
      </p:sp>
      <p:sp>
        <p:nvSpPr>
          <p:cNvPr id="50" name="StatusPill"/>
          <p:cNvSpPr/>
          <p:nvPr/>
        </p:nvSpPr>
        <p:spPr>
          <a:xfrm>
            <a:off x="7300000" y="723900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B91C1C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CRITIQUE</a:t>
            </a:r>
          </a:p>
        </p:txBody>
      </p:sp>
      <p:sp>
        <p:nvSpPr>
          <p:cNvPr id="30" name="ContentText"/>
          <p:cNvSpPr/>
          <p:nvPr/>
        </p:nvSpPr>
        <p:spPr>
          <a:xfrm>
            <a:off x="304800" y="990600"/>
            <a:ext cx="8534400" cy="40383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1. No eligibility check.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Any player can enter the queue unconditionally. There is no verification of ban status, rank requirements, or other access conditions — a significant matchmaking gap.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2. No failure path.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 diagram only shows the happy path. There is no defined behaviour for what happens when a player cannot join — no error returned, no message shown.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3. No database interaction.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Player eligibility data lives in persistent storage, but the original has no DB stub connection — the design does not specify where this data comes from.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4. Single diagram conflates concerns.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Eligibility, queuing, and session creation are distinct responsibilities combined in one undifferentiated flow, making ownership unclear.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Sequence Diagrams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&amp; Game Session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94944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0" y="694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Game (Requirements Met)</a:t>
            </a:r>
            <a:endParaRPr lang="en-US" sz="900" dirty="0"/>
          </a:p>
        </p:txBody>
      </p:sp>
      <p:pic>
        <p:nvPicPr>
          <p:cNvPr id="26" name="Picture 25" descr="A screenshot of a computer program  Description automatically generated">
            <a:extLst>
              <a:ext uri="{FF2B5EF4-FFF2-40B4-BE49-F238E27FC236}">
                <a16:creationId xmlns:a16="http://schemas.microsoft.com/office/drawing/2014/main" id="{15B93DCA-B0EC-CB2E-C7CC-5ADD59A86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756" y="760026"/>
            <a:ext cx="6127180" cy="40652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7E730-15DB-AED0-DF0A-8D16DCC3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F0F206-E585-0AE0-C796-4D905FCD47C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DCBDA0-F014-5F60-B604-75A3AC92FA71}"/>
              </a:ext>
            </a:extLst>
          </p:cNvPr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Sequence Diagrams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E522EA-4EF5-3D93-05B5-A66BC3559527}"/>
              </a:ext>
            </a:extLst>
          </p:cNvPr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&amp; Game Session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9C59FF-C88A-B10F-D1D2-1E735F2884F6}"/>
              </a:ext>
            </a:extLst>
          </p:cNvPr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CF93794-05AB-0B47-0EF1-E55963B594D1}"/>
              </a:ext>
            </a:extLst>
          </p:cNvPr>
          <p:cNvSpPr/>
          <p:nvPr/>
        </p:nvSpPr>
        <p:spPr>
          <a:xfrm>
            <a:off x="0" y="699516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6719109-D454-6740-BE11-85F1933490C0}"/>
              </a:ext>
            </a:extLst>
          </p:cNvPr>
          <p:cNvSpPr/>
          <p:nvPr/>
        </p:nvSpPr>
        <p:spPr>
          <a:xfrm>
            <a:off x="0" y="6995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Game (Requirements Not Met)</a:t>
            </a:r>
            <a:endParaRPr lang="en-US" sz="900" dirty="0"/>
          </a:p>
        </p:txBody>
      </p:sp>
      <p:pic>
        <p:nvPicPr>
          <p:cNvPr id="28" name="Picture 27" descr="A diagram of a game  Description automatically generated">
            <a:extLst>
              <a:ext uri="{FF2B5EF4-FFF2-40B4-BE49-F238E27FC236}">
                <a16:creationId xmlns:a16="http://schemas.microsoft.com/office/drawing/2014/main" id="{A0FCE142-1C80-A326-57E0-8C5E08F8F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042" y="699516"/>
            <a:ext cx="6001693" cy="42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15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bmit Move Revis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Matchmaking &amp; Game Session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30051" y="693270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Submit Move — Design Improvements</a:t>
            </a:r>
          </a:p>
        </p:txBody>
      </p:sp>
      <p:sp>
        <p:nvSpPr>
          <p:cNvPr id="50" name="StatusPill"/>
          <p:cNvSpPr/>
          <p:nvPr/>
        </p:nvSpPr>
        <p:spPr>
          <a:xfrm>
            <a:off x="7304293" y="731820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IMPROVED</a:t>
            </a:r>
          </a:p>
        </p:txBody>
      </p:sp>
      <p:sp>
        <p:nvSpPr>
          <p:cNvPr id="30" name="ContentText"/>
          <p:cNvSpPr/>
          <p:nvPr/>
        </p:nvSpPr>
        <p:spPr>
          <a:xfrm>
            <a:off x="304800" y="990600"/>
            <a:ext cx="8534400" cy="40383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clientStateVersion added.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 optional clientStateVersion parameter supports optimistic concurrency control, preventing stale move submissions in multi-client environments.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Immediate acknowledgement.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PlatformCore now returns ack(moveReceived) before validation completes, preventing duplicate submissions and improving perceived responsiveness.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GameEnded vs GameStateUpdate.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 revised design correctly distinguishes a terminal game-over event from an in-progress state update, enabling downstream consumers to handle each case appropriately.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Formal architectural doc.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An accompanying .md file provides rationale for each step, documenting design properties, correctness guarantees, and engineering justifications expected for P1.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E9D43-BB78-783A-8E4D-D8CFA012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469ADC-E9CC-09AC-954D-254DD5CBFFA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2D368E-5B45-7077-6D3C-3ED12B7C670A}"/>
              </a:ext>
            </a:extLst>
          </p:cNvPr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Sequence Diagrams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CDF989-4618-E28F-83C0-2137B3FA8BB5}"/>
              </a:ext>
            </a:extLst>
          </p:cNvPr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&amp; Game Session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4423FFD-5C01-B9E6-7840-CB71E04198CC}"/>
              </a:ext>
            </a:extLst>
          </p:cNvPr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0BC7F3-D6FF-A3F4-75EC-5A8345EBCBBC}"/>
              </a:ext>
            </a:extLst>
          </p:cNvPr>
          <p:cNvSpPr/>
          <p:nvPr/>
        </p:nvSpPr>
        <p:spPr>
          <a:xfrm>
            <a:off x="0" y="694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Join Game (Requirements Met)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8270660-1F88-1C60-7406-F6D4C5963466}"/>
              </a:ext>
            </a:extLst>
          </p:cNvPr>
          <p:cNvSpPr/>
          <p:nvPr/>
        </p:nvSpPr>
        <p:spPr>
          <a:xfrm>
            <a:off x="3200400" y="69303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Join Game (Requirements Not Met)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AD829F5-6A5C-CCAD-D093-BBC843874E53}"/>
              </a:ext>
            </a:extLst>
          </p:cNvPr>
          <p:cNvSpPr/>
          <p:nvPr/>
        </p:nvSpPr>
        <p:spPr>
          <a:xfrm>
            <a:off x="0" y="692658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AB6336B-1CFB-2EE2-98DC-0DCDF8A05625}"/>
              </a:ext>
            </a:extLst>
          </p:cNvPr>
          <p:cNvSpPr/>
          <p:nvPr/>
        </p:nvSpPr>
        <p:spPr>
          <a:xfrm>
            <a:off x="0" y="6995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Move</a:t>
            </a:r>
            <a:endParaRPr lang="en-US" sz="900" dirty="0"/>
          </a:p>
        </p:txBody>
      </p:sp>
      <p:pic>
        <p:nvPicPr>
          <p:cNvPr id="30" name="Picture 29" descr="A screenshot of a computer program  Description automatically generated">
            <a:extLst>
              <a:ext uri="{FF2B5EF4-FFF2-40B4-BE49-F238E27FC236}">
                <a16:creationId xmlns:a16="http://schemas.microsoft.com/office/drawing/2014/main" id="{0826A889-2661-C0E1-F602-B613CDA8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519" y="738088"/>
            <a:ext cx="6142540" cy="420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54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urn Notification Origin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Matchmaking &amp; Game Session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Turn Notification — Original Design</a:t>
            </a:r>
          </a:p>
        </p:txBody>
      </p:sp>
      <p:sp>
        <p:nvSpPr>
          <p:cNvPr id="50" name="StatusPill"/>
          <p:cNvSpPr/>
          <p:nvPr/>
        </p:nvSpPr>
        <p:spPr>
          <a:xfrm>
            <a:off x="7300000" y="680000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ORIGINAL</a:t>
            </a:r>
          </a:p>
        </p:txBody>
      </p:sp>
      <p:pic>
        <p:nvPicPr>
          <p:cNvPr id="24" name="Diagram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90600"/>
            <a:ext cx="8534400" cy="4038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urn Notification Critiq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Matchmaking &amp; Game Session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38880" y="673117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Turn Notification — Design Critique</a:t>
            </a:r>
          </a:p>
        </p:txBody>
      </p:sp>
      <p:sp>
        <p:nvSpPr>
          <p:cNvPr id="50" name="StatusPill"/>
          <p:cNvSpPr/>
          <p:nvPr/>
        </p:nvSpPr>
        <p:spPr>
          <a:xfrm>
            <a:off x="7295707" y="727101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B91C1C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CRITIQUE</a:t>
            </a:r>
          </a:p>
        </p:txBody>
      </p:sp>
      <p:sp>
        <p:nvSpPr>
          <p:cNvPr id="30" name="ContentText"/>
          <p:cNvSpPr/>
          <p:nvPr/>
        </p:nvSpPr>
        <p:spPr>
          <a:xfrm>
            <a:off x="304800" y="990600"/>
            <a:ext cx="8534400" cy="40383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Overall design is sound.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 core event-driven notification design using EventBus + NotificationService is correct and well-structured. Most issues are minor.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P1 on Game Page branch is empty.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 [P1 is on Game Page] alternate branch is labelled but left entirely empty. A reviewer cannot tell whether nothing happens, or whether the board updates. Should be annotated or linked to the Submit Move diagram.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No stateVersion conflict handling.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 stateVersion=V parameter is included in the publish call, but there is no note on what happens if the delivered version is stale or out of order — this edge case should at minimum be acknowledged.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A9840-BA3D-E430-3E78-0151E32A6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1C8CF8-08CF-397C-48AC-4040BB59C01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A07AF1-DF03-8FDF-23A4-CBC064817697}"/>
              </a:ext>
            </a:extLst>
          </p:cNvPr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Sequence Diagrams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524F16-DE41-6B6E-9386-4F25126187CB}"/>
              </a:ext>
            </a:extLst>
          </p:cNvPr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&amp; Game Session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89886C-DCC2-E84B-1D23-ACA3B6EB4DBC}"/>
              </a:ext>
            </a:extLst>
          </p:cNvPr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AA0C6C-672D-FEAE-2784-B86B516F5C0C}"/>
              </a:ext>
            </a:extLst>
          </p:cNvPr>
          <p:cNvSpPr/>
          <p:nvPr/>
        </p:nvSpPr>
        <p:spPr>
          <a:xfrm>
            <a:off x="0" y="694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Join Game (Requirements Met)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1F88C40-3347-DF7E-635F-7194F654A338}"/>
              </a:ext>
            </a:extLst>
          </p:cNvPr>
          <p:cNvSpPr/>
          <p:nvPr/>
        </p:nvSpPr>
        <p:spPr>
          <a:xfrm>
            <a:off x="3200400" y="69303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Join Game (Requirements Not Met)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813E0DB-1113-E688-6C2C-AC1DAA237355}"/>
              </a:ext>
            </a:extLst>
          </p:cNvPr>
          <p:cNvSpPr/>
          <p:nvPr/>
        </p:nvSpPr>
        <p:spPr>
          <a:xfrm>
            <a:off x="0" y="692658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E6FC2DB-CF0D-C556-1936-E82087E7F8EE}"/>
              </a:ext>
            </a:extLst>
          </p:cNvPr>
          <p:cNvSpPr/>
          <p:nvPr/>
        </p:nvSpPr>
        <p:spPr>
          <a:xfrm>
            <a:off x="0" y="6995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Notification</a:t>
            </a:r>
            <a:endParaRPr lang="en-US" sz="900" dirty="0"/>
          </a:p>
        </p:txBody>
      </p:sp>
      <p:pic>
        <p:nvPicPr>
          <p:cNvPr id="7" name="Picture 6" descr="A screenshot of a computer program  Description automatically generated">
            <a:extLst>
              <a:ext uri="{FF2B5EF4-FFF2-40B4-BE49-F238E27FC236}">
                <a16:creationId xmlns:a16="http://schemas.microsoft.com/office/drawing/2014/main" id="{B6C96246-0976-EFFB-8F13-38899BEDF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52" y="1179860"/>
            <a:ext cx="8620557" cy="342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46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me Ends Origin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Game Over &amp; Statistics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34343" y="680000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Game Ends — Original Design</a:t>
            </a:r>
          </a:p>
        </p:txBody>
      </p:sp>
      <p:sp>
        <p:nvSpPr>
          <p:cNvPr id="50" name="StatusPill"/>
          <p:cNvSpPr/>
          <p:nvPr/>
        </p:nvSpPr>
        <p:spPr>
          <a:xfrm>
            <a:off x="7317172" y="728963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ORIGINAL</a:t>
            </a:r>
          </a:p>
        </p:txBody>
      </p:sp>
      <p:pic>
        <p:nvPicPr>
          <p:cNvPr id="24" name="Diagram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55" y="1000726"/>
            <a:ext cx="6894490" cy="4038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me Ends Critiq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Title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User Flow Sequence Diagrams</a:t>
            </a:r>
          </a:p>
        </p:txBody>
      </p:sp>
      <p:sp>
        <p:nvSpPr>
          <p:cNvPr id="4" name="HeaderSection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</a:rPr>
              <a:t>Game Over &amp; Statistics</a:t>
            </a:r>
          </a:p>
        </p:txBody>
      </p:sp>
      <p:sp>
        <p:nvSpPr>
          <p:cNvPr id="5" name="Divider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Bg"/>
          <p:cNvSpPr/>
          <p:nvPr/>
        </p:nvSpPr>
        <p:spPr>
          <a:xfrm>
            <a:off x="-34343" y="680000"/>
            <a:ext cx="3200400" cy="274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Text"/>
          <p:cNvSpPr/>
          <p:nvPr/>
        </p:nvSpPr>
        <p:spPr>
          <a:xfrm>
            <a:off x="0" y="673117"/>
            <a:ext cx="32004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Game Ends — Design Critique</a:t>
            </a:r>
          </a:p>
        </p:txBody>
      </p:sp>
      <p:sp>
        <p:nvSpPr>
          <p:cNvPr id="50" name="StatusPill"/>
          <p:cNvSpPr/>
          <p:nvPr/>
        </p:nvSpPr>
        <p:spPr>
          <a:xfrm>
            <a:off x="7312879" y="738990"/>
            <a:ext cx="1700000" cy="228600"/>
          </a:xfrm>
          <a:prstGeom prst="roundRect">
            <a:avLst>
              <a:gd name="adj" fmla="val 25000"/>
            </a:avLst>
          </a:prstGeom>
          <a:solidFill>
            <a:srgbClr val="B91C1C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CRITIQUE</a:t>
            </a:r>
          </a:p>
        </p:txBody>
      </p:sp>
      <p:sp>
        <p:nvSpPr>
          <p:cNvPr id="30" name="ContentText"/>
          <p:cNvSpPr/>
          <p:nvPr/>
        </p:nvSpPr>
        <p:spPr>
          <a:xfrm>
            <a:off x="304800" y="990600"/>
            <a:ext cx="8534400" cy="40383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1. DB publishes events.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Stats Store calls publish(GameStateUpdate(...)) on EventBus directly. A data store should not own event publication — that is a platform responsibility, not a persistence concern.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2. No rank display.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 diagram shows win/lose/tie but never displays the player's updated rank, which is a defined platform requirement (leaderboard and player stats are core features).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3. No ranking data fetch.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There is no step where PlatformCore retrieves the player's new rank from the database after stats are recorded — the flow goes from recording to display with no read operation.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4. Vague 'Stats Store' naming.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Stats Store implies raw storage, not logic. Renaming to StatsManager better reflects that it computes and updates statistics, not just persists raw data.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</a:rPr>
              <a:t>5. Undifferentiated stat processing.  </a:t>
            </a:r>
            <a:r>
              <a:rPr lang="en-US" sz="1100" b="0" dirty="0">
                <a:solidFill>
                  <a:srgbClr val="374151"/>
                </a:solidFill>
                <a:latin typeface="Calibri" pitchFamily="34" charset="0"/>
              </a:rPr>
              <a:t>All stat recording is collapsed into one recordResult call. The revised design separates parsing from persistence, improving clarity and testability.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Sequence Diagrams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 &amp; Statistics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5074920"/>
            <a:ext cx="8412480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Platform  ·  Bogo Solutions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605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Game Over → Update Stats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261872"/>
            <a:ext cx="41605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2618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View Player Statistics</a:t>
            </a:r>
            <a:endParaRPr lang="en-US" sz="1000" dirty="0"/>
          </a:p>
        </p:txBody>
      </p:sp>
      <p:pic>
        <p:nvPicPr>
          <p:cNvPr id="19" name="Picture 18" descr="A screenshot of a computer  Description automatically generated">
            <a:extLst>
              <a:ext uri="{FF2B5EF4-FFF2-40B4-BE49-F238E27FC236}">
                <a16:creationId xmlns:a16="http://schemas.microsoft.com/office/drawing/2014/main" id="{A52AB517-76C3-1886-9BA3-C7F147B22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00" y="1674254"/>
            <a:ext cx="4509646" cy="2807587"/>
          </a:xfrm>
          <a:prstGeom prst="rect">
            <a:avLst/>
          </a:prstGeom>
        </p:spPr>
      </p:pic>
      <p:pic>
        <p:nvPicPr>
          <p:cNvPr id="21" name="Picture 20" descr="A diagram of a game  Description automatically generated">
            <a:extLst>
              <a:ext uri="{FF2B5EF4-FFF2-40B4-BE49-F238E27FC236}">
                <a16:creationId xmlns:a16="http://schemas.microsoft.com/office/drawing/2014/main" id="{91C4C38D-8D7E-255F-FBBB-A207B9765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727" y="2021525"/>
            <a:ext cx="3878217" cy="201645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— Sprint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5074920"/>
            <a:ext cx="8412480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Platform  ·  Bogo Solutions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50492" y="1490472"/>
            <a:ext cx="219456" cy="219456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606040" cy="50292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391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Foundation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238658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package layout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interfaces: Game, RuleValidator, PlayerAction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stubs (CredentialsDatabase, Database, GameServer, Networking)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domain model, GeneralStats, Rank enum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UI screens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setup, README, test infrastructure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9412" y="1490472"/>
            <a:ext cx="219456" cy="219456"/>
          </a:xfrm>
          <a:prstGeom prst="ellipse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17830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783080"/>
            <a:ext cx="2606040" cy="502920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0391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Core Features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2331720"/>
            <a:ext cx="238658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+ PlatformCore auth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+ Lobby services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GameSessionManager (full move pipeline)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game implementations (Tic-Tac-Toe, Connect Four)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UI screens (Dashboard, PlayGame, GameGUI)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tests: login, register flows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28332" y="1490472"/>
            <a:ext cx="219456" cy="219456"/>
          </a:xfrm>
          <a:prstGeom prst="ellipse">
            <a:avLst/>
          </a:prstGeom>
          <a:solidFill>
            <a:srgbClr val="6A1E7A"/>
          </a:solidFill>
          <a:ln w="12700">
            <a:solidFill>
              <a:srgbClr val="6A1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7830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1783080"/>
            <a:ext cx="2606040" cy="502920"/>
          </a:xfrm>
          <a:prstGeom prst="rect">
            <a:avLst/>
          </a:prstGeom>
          <a:solidFill>
            <a:srgbClr val="6A1E7A"/>
          </a:solidFill>
          <a:ln w="12700">
            <a:solidFill>
              <a:srgbClr val="6A1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20391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Integration &amp; Demo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44768" y="2331720"/>
            <a:ext cx="238658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service + full notification routing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StatsManager + Leaderboard (complete)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detection for both games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screen, turn alerts, leaderboard UI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tests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+ final documentation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Foundation &amp; Core Abstractions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5074920"/>
            <a:ext cx="8412480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Platform  ·  Bogo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4206240" cy="29260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841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setup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Game interface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RuleValidator interface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PlayerAction abstraction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GameStateUpdate + GameStatus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EventBus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Stub: CredentialsDatabase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Stub: Database, GameServer, Networking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4124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420624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841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18872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WelcomePage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AuthenticationScreen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5292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206240" cy="29260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domain model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GeneralStats class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enum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PlayerStats class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class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5292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852928"/>
            <a:ext cx="4206240" cy="292608"/>
          </a:xfrm>
          <a:prstGeom prst="rect">
            <a:avLst/>
          </a:prstGeom>
          <a:solidFill>
            <a:srgbClr val="6A4E1E"/>
          </a:solidFill>
          <a:ln w="12700">
            <a:solidFill>
              <a:srgbClr val="6A4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&amp;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20040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repo setup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branching conventions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infrastructure (JUnit)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Player, GeneralStats, CredentialsDatabase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Core Platform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5074920"/>
            <a:ext cx="8412480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Platform  ·  Bogo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4206240" cy="29260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841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01809"/>
            <a:ext cx="393192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PlatformCore — auth delegation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PlatformCore — dispatch &amp; routing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PlatformCore — queue &amp; lobby proxies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PlatformCore — move proxy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service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service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GameSessionManager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(skeleton)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4124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420624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841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18872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MainGameDashboard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ProfileDashboard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PlayGame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GameGUI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ChatboxGUI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5292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206240" cy="29260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TicTacToeGame + PlayerAction + RuleValidator + GameState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ConnectFourGame + PlayerAction + RuleValidator + GameState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5292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54880" y="2852928"/>
            <a:ext cx="4206240" cy="292608"/>
          </a:xfrm>
          <a:prstGeom prst="rect">
            <a:avLst/>
          </a:prstGeom>
          <a:solidFill>
            <a:srgbClr val="6A4E1E"/>
          </a:solidFill>
          <a:ln w="12700">
            <a:solidFill>
              <a:srgbClr val="6A4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&amp;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20040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Sprint 1 branches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smoke test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architecture doc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validators, GameSessionManager, MatchMaking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tests: login &amp; register flows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Integration, Notifications &amp;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5074920"/>
            <a:ext cx="8412480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Platform  ·  Bogo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4206240" cy="29260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841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service (sendMessage, filterMessage)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PlatformCore — notification routing (complete)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StatsManager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(complete)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Game-over pipeline (complete)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4124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420624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841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18872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UI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Win/loss/tie result screen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alert display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statistics view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view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 &amp; navigation wiring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5292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206240" cy="29260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detection — Tic-Tac-Toe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detection — Connect Four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actions delivery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failure reason propagation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5292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852928"/>
            <a:ext cx="4206240" cy="292608"/>
          </a:xfrm>
          <a:prstGeom prst="rect">
            <a:avLst/>
          </a:prstGeom>
          <a:solidFill>
            <a:srgbClr val="6A4E1E"/>
          </a:solidFill>
          <a:ln w="12700">
            <a:solidFill>
              <a:srgbClr val="6A4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&amp;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200400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all branches + final README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tests: full game flow, turn notification, game-over stats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StatsManager, win detection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verification + end-to-end demo run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documentation + architecture doc final revision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743200" cy="36576"/>
          </a:xfrm>
          <a:prstGeom prst="rect">
            <a:avLst/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— component map, layers, principles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Sequence Diagrams — auth, matchmaking, game session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— three sprints, product backlog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 Solutions  ·  Multiplayer Game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1984</Words>
  <Application>Microsoft Macintosh PowerPoint</Application>
  <PresentationFormat>On-screen Show (16:9)</PresentationFormat>
  <Paragraphs>335</Paragraphs>
  <Slides>30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Multiplayer Game Platform — Integration Team Demo</dc:title>
  <dc:subject>PptxGenJS Presentation</dc:subject>
  <dc:creator>PptxGenJS</dc:creator>
  <cp:lastModifiedBy>SYED ESSAM UDDIN KHAWAJA</cp:lastModifiedBy>
  <cp:revision>29</cp:revision>
  <dcterms:created xsi:type="dcterms:W3CDTF">2026-02-25T23:24:54Z</dcterms:created>
  <dcterms:modified xsi:type="dcterms:W3CDTF">2026-03-01T07:38:40Z</dcterms:modified>
</cp:coreProperties>
</file>